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610" y="36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 KRUTHI" userId="a0b455bdb16d3d5b" providerId="LiveId" clId="{2AA7517B-416D-4CC4-8BB7-1E31984823A5}"/>
    <pc:docChg chg="modSld">
      <pc:chgData name="SRI KRUTHI" userId="a0b455bdb16d3d5b" providerId="LiveId" clId="{2AA7517B-416D-4CC4-8BB7-1E31984823A5}" dt="2026-08-28T21:41:25.024" v="3" actId="1076"/>
      <pc:docMkLst>
        <pc:docMk/>
      </pc:docMkLst>
      <pc:sldChg chg="modSp mod">
        <pc:chgData name="SRI KRUTHI" userId="a0b455bdb16d3d5b" providerId="LiveId" clId="{2AA7517B-416D-4CC4-8BB7-1E31984823A5}" dt="2026-08-28T21:41:25.024" v="3" actId="1076"/>
        <pc:sldMkLst>
          <pc:docMk/>
          <pc:sldMk cId="0" sldId="261"/>
        </pc:sldMkLst>
        <pc:spChg chg="mod">
          <ac:chgData name="SRI KRUTHI" userId="a0b455bdb16d3d5b" providerId="LiveId" clId="{2AA7517B-416D-4CC4-8BB7-1E31984823A5}" dt="2026-08-28T21:41:13.776" v="2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SRI KRUTHI" userId="a0b455bdb16d3d5b" providerId="LiveId" clId="{2AA7517B-416D-4CC4-8BB7-1E31984823A5}" dt="2026-08-28T21:41:06.056" v="1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SRI KRUTHI" userId="a0b455bdb16d3d5b" providerId="LiveId" clId="{2AA7517B-416D-4CC4-8BB7-1E31984823A5}" dt="2026-08-28T21:41:25.024" v="3" actId="1076"/>
          <ac:spMkLst>
            <pc:docMk/>
            <pc:sldMk cId="0" sldId="261"/>
            <ac:spMk id="1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icrosoft.com/en-us/research/blog/phi-2-the-surprising-power-of-small-language-models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huggingface.co/sentence-transformers/all-MiniLM-L6-v2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bis.gov.in/wp-content/uploads/2020/12/BIS-Act-2016.pdf" TargetMode="External"/><Relationship Id="rId5" Type="http://schemas.openxmlformats.org/officeDocument/2006/relationships/hyperlink" Target="https://cpwd.gov.in/Publications.aspx" TargetMode="External"/><Relationship Id="rId10" Type="http://schemas.openxmlformats.org/officeDocument/2006/relationships/hyperlink" Target="https://niriksh-amrita.streamlit.app" TargetMode="External"/><Relationship Id="rId4" Type="http://schemas.openxmlformats.org/officeDocument/2006/relationships/hyperlink" Target="https://www.bis.gov.in" TargetMode="External"/><Relationship Id="rId9" Type="http://schemas.openxmlformats.org/officeDocument/2006/relationships/hyperlink" Target="https://en.wikipedia.org/wiki/Okapi_BM2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282333" y="257381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51409" y="770425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12765" y="-928236"/>
            <a:ext cx="15544800" cy="3502053"/>
            <a:chOff x="0" y="0"/>
            <a:chExt cx="20726400" cy="46694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669404"/>
            </a:xfrm>
            <a:custGeom>
              <a:avLst/>
              <a:gdLst/>
              <a:ahLst/>
              <a:cxnLst/>
              <a:rect l="l" t="t" r="r" b="b"/>
              <a:pathLst>
                <a:path w="20726400" h="4669404">
                  <a:moveTo>
                    <a:pt x="0" y="0"/>
                  </a:moveTo>
                  <a:lnTo>
                    <a:pt x="20726400" y="0"/>
                  </a:lnTo>
                  <a:lnTo>
                    <a:pt x="20726400" y="4669404"/>
                  </a:lnTo>
                  <a:lnTo>
                    <a:pt x="0" y="46694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2020" b="-309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6884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12765" y="1899433"/>
            <a:ext cx="9034449" cy="7902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9"/>
              </a:lnSpc>
            </a:pPr>
            <a:endParaRPr/>
          </a:p>
          <a:p>
            <a:pPr marL="618302" lvl="1" indent="-309151" algn="just">
              <a:lnSpc>
                <a:spcPts val="8199"/>
              </a:lnSpc>
              <a:buFont typeface="Arial"/>
              <a:buChar char="•"/>
            </a:pPr>
            <a:r>
              <a:rPr lang="en-US" sz="34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– </a:t>
            </a:r>
            <a:r>
              <a:rPr lang="en-US" sz="34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26108</a:t>
            </a:r>
          </a:p>
          <a:p>
            <a:pPr marL="618302" lvl="1" indent="-309151" algn="just">
              <a:lnSpc>
                <a:spcPts val="4851"/>
              </a:lnSpc>
              <a:buFont typeface="Arial"/>
              <a:buChar char="•"/>
            </a:pPr>
            <a:r>
              <a:rPr lang="en-US" sz="34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Title- </a:t>
            </a:r>
            <a:r>
              <a:rPr lang="en-US" sz="34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Recommendation Engine for Identifying Applicable Indian Standards for Procurement Specifications</a:t>
            </a:r>
          </a:p>
          <a:p>
            <a:pPr marL="618302" lvl="1" indent="-309151" algn="just">
              <a:lnSpc>
                <a:spcPts val="8199"/>
              </a:lnSpc>
              <a:buFont typeface="Arial"/>
              <a:buChar char="•"/>
            </a:pPr>
            <a:r>
              <a:rPr lang="en-US" sz="34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Theme- </a:t>
            </a:r>
            <a:r>
              <a:rPr lang="en-US" sz="34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Automation</a:t>
            </a:r>
          </a:p>
          <a:p>
            <a:pPr marL="618302" lvl="1" indent="-309151" algn="just">
              <a:lnSpc>
                <a:spcPts val="8199"/>
              </a:lnSpc>
              <a:buFont typeface="Arial"/>
              <a:buChar char="•"/>
            </a:pPr>
            <a:r>
              <a:rPr lang="en-US" sz="34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Category- </a:t>
            </a:r>
            <a:r>
              <a:rPr lang="en-US" sz="34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</a:p>
          <a:p>
            <a:pPr marL="618302" lvl="1" indent="-309151" algn="just">
              <a:lnSpc>
                <a:spcPts val="8199"/>
              </a:lnSpc>
              <a:buFont typeface="Arial"/>
              <a:buChar char="•"/>
            </a:pPr>
            <a:r>
              <a:rPr lang="en-US" sz="34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ID-</a:t>
            </a:r>
          </a:p>
          <a:p>
            <a:pPr marL="618302" lvl="1" indent="-309151" algn="just">
              <a:lnSpc>
                <a:spcPts val="8199"/>
              </a:lnSpc>
              <a:buFont typeface="Arial"/>
              <a:buChar char="•"/>
            </a:pPr>
            <a:r>
              <a:rPr lang="en-US" sz="34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Name- </a:t>
            </a:r>
            <a:r>
              <a:rPr lang="en-US" sz="34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ByteMinds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55451" y="-497929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/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475612" y="1730795"/>
            <a:ext cx="9543525" cy="5201221"/>
          </a:xfrm>
          <a:custGeom>
            <a:avLst/>
            <a:gdLst/>
            <a:ahLst/>
            <a:cxnLst/>
            <a:rect l="l" t="t" r="r" b="b"/>
            <a:pathLst>
              <a:path w="9543525" h="5201221">
                <a:moveTo>
                  <a:pt x="0" y="0"/>
                </a:moveTo>
                <a:lnTo>
                  <a:pt x="9543524" y="0"/>
                </a:lnTo>
                <a:lnTo>
                  <a:pt x="9543524" y="5201221"/>
                </a:lnTo>
                <a:lnTo>
                  <a:pt x="0" y="52012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4" name="Group 14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ByteMinds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Freeform 19"/>
          <p:cNvSpPr/>
          <p:nvPr/>
        </p:nvSpPr>
        <p:spPr>
          <a:xfrm>
            <a:off x="662425" y="7294500"/>
            <a:ext cx="11987219" cy="1875160"/>
          </a:xfrm>
          <a:custGeom>
            <a:avLst/>
            <a:gdLst/>
            <a:ahLst/>
            <a:cxnLst/>
            <a:rect l="l" t="t" r="r" b="b"/>
            <a:pathLst>
              <a:path w="11987219" h="1875160">
                <a:moveTo>
                  <a:pt x="0" y="0"/>
                </a:moveTo>
                <a:lnTo>
                  <a:pt x="11987219" y="0"/>
                </a:lnTo>
                <a:lnTo>
                  <a:pt x="11987219" y="1875160"/>
                </a:lnTo>
                <a:lnTo>
                  <a:pt x="0" y="18751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10186375" y="1376677"/>
            <a:ext cx="6307955" cy="828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0"/>
              </a:lnSpc>
              <a:spcBef>
                <a:spcPct val="0"/>
              </a:spcBef>
            </a:pPr>
            <a:r>
              <a:rPr lang="en-US" sz="5300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❖ Proposed Solution: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186268" y="2186302"/>
            <a:ext cx="7337793" cy="521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0038" lvl="1" indent="-285019" algn="l">
              <a:lnSpc>
                <a:spcPts val="3168"/>
              </a:lnSpc>
              <a:buFont typeface="Arial"/>
              <a:buChar char="•"/>
            </a:pPr>
            <a:r>
              <a:rPr lang="en-US" sz="26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understands tender requirements and product specifications.</a:t>
            </a:r>
          </a:p>
          <a:p>
            <a:pPr marL="570038" lvl="1" indent="-285019" algn="l">
              <a:lnSpc>
                <a:spcPts val="3168"/>
              </a:lnSpc>
              <a:buFont typeface="Arial"/>
              <a:buChar char="•"/>
            </a:pPr>
            <a:r>
              <a:rPr lang="en-US" sz="26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search finds the most relevant Indian Standards.</a:t>
            </a:r>
          </a:p>
          <a:p>
            <a:pPr marL="570038" lvl="1" indent="-285019" algn="l">
              <a:lnSpc>
                <a:spcPts val="3168"/>
              </a:lnSpc>
              <a:buFont typeface="Arial"/>
              <a:buChar char="•"/>
            </a:pPr>
            <a:r>
              <a:rPr lang="en-US" sz="26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Connects related standards — allied, test, safety &amp; installation.</a:t>
            </a:r>
          </a:p>
          <a:p>
            <a:pPr marL="570038" lvl="1" indent="-285019" algn="l">
              <a:lnSpc>
                <a:spcPts val="3168"/>
              </a:lnSpc>
              <a:buFont typeface="Arial"/>
              <a:buChar char="•"/>
            </a:pPr>
            <a:r>
              <a:rPr lang="en-US" sz="26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Checks latest versions and identifies outdated/withdrawn standards.</a:t>
            </a:r>
          </a:p>
          <a:p>
            <a:pPr marL="570038" lvl="1" indent="-285019" algn="l">
              <a:lnSpc>
                <a:spcPts val="3168"/>
              </a:lnSpc>
              <a:buFont typeface="Arial"/>
              <a:buChar char="•"/>
            </a:pPr>
            <a:r>
              <a:rPr lang="en-US" sz="26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Verifies compliance with applicable BIS / QCO / CRS requirements.</a:t>
            </a:r>
          </a:p>
          <a:p>
            <a:pPr marL="570038" lvl="1" indent="-285019" algn="l">
              <a:lnSpc>
                <a:spcPts val="3168"/>
              </a:lnSpc>
              <a:buFont typeface="Arial"/>
              <a:buChar char="•"/>
            </a:pPr>
            <a:r>
              <a:rPr lang="en-US" sz="26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a complete recommendation with the primary IS and related standards.</a:t>
            </a:r>
          </a:p>
          <a:p>
            <a:pPr algn="l">
              <a:lnSpc>
                <a:spcPts val="3168"/>
              </a:lnSpc>
            </a:pPr>
            <a:endParaRPr lang="en-US" sz="264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4586788" y="796752"/>
            <a:ext cx="13822710" cy="8570113"/>
          </a:xfrm>
          <a:custGeom>
            <a:avLst/>
            <a:gdLst/>
            <a:ahLst/>
            <a:cxnLst/>
            <a:rect l="l" t="t" r="r" b="b"/>
            <a:pathLst>
              <a:path w="13822710" h="8570113">
                <a:moveTo>
                  <a:pt x="0" y="0"/>
                </a:moveTo>
                <a:lnTo>
                  <a:pt x="13822710" y="0"/>
                </a:lnTo>
                <a:lnTo>
                  <a:pt x="13822710" y="8570113"/>
                </a:lnTo>
                <a:lnTo>
                  <a:pt x="0" y="8570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4314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724056" y="-308168"/>
            <a:ext cx="16459200" cy="1714500"/>
            <a:chOff x="0" y="0"/>
            <a:chExt cx="21945600" cy="228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2" name="Freeform 12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ByteMinds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628446" y="0"/>
            <a:ext cx="3374774" cy="1593504"/>
            <a:chOff x="0" y="0"/>
            <a:chExt cx="4499699" cy="21246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289676" y="2468123"/>
            <a:ext cx="4470843" cy="6495540"/>
          </a:xfrm>
          <a:custGeom>
            <a:avLst/>
            <a:gdLst/>
            <a:ahLst/>
            <a:cxnLst/>
            <a:rect l="l" t="t" r="r" b="b"/>
            <a:pathLst>
              <a:path w="4470843" h="6495540">
                <a:moveTo>
                  <a:pt x="0" y="0"/>
                </a:moveTo>
                <a:lnTo>
                  <a:pt x="4470843" y="0"/>
                </a:lnTo>
                <a:lnTo>
                  <a:pt x="4470843" y="6495540"/>
                </a:lnTo>
                <a:lnTo>
                  <a:pt x="0" y="64955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240" r="-424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-3026886" y="1779894"/>
            <a:ext cx="9999186" cy="68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22"/>
              </a:lnSpc>
              <a:spcBef>
                <a:spcPct val="0"/>
              </a:spcBef>
            </a:pPr>
            <a:r>
              <a:rPr lang="en-US" sz="4352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❖ </a:t>
            </a:r>
            <a:r>
              <a:rPr lang="en-US" sz="4352" b="1" u="none" strike="noStrike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 stack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9634852" y="1464626"/>
            <a:ext cx="7624448" cy="7624448"/>
          </a:xfrm>
          <a:custGeom>
            <a:avLst/>
            <a:gdLst/>
            <a:ahLst/>
            <a:cxnLst/>
            <a:rect l="l" t="t" r="r" b="b"/>
            <a:pathLst>
              <a:path w="7624448" h="7624448">
                <a:moveTo>
                  <a:pt x="0" y="0"/>
                </a:moveTo>
                <a:lnTo>
                  <a:pt x="7624448" y="0"/>
                </a:lnTo>
                <a:lnTo>
                  <a:pt x="7624448" y="7624448"/>
                </a:lnTo>
                <a:lnTo>
                  <a:pt x="0" y="76244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2" name="Freeform 12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ByteMinds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75612" y="1862452"/>
            <a:ext cx="8963833" cy="7109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61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</a:t>
            </a:r>
          </a:p>
          <a:p>
            <a:pPr marL="564485" lvl="1" indent="-282242" algn="l">
              <a:lnSpc>
                <a:spcPts val="3137"/>
              </a:lnSpc>
              <a:buFont typeface="Arial"/>
              <a:buChar char="•"/>
            </a:pPr>
            <a:r>
              <a:rPr lang="en-US" sz="2614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Access:</a:t>
            </a:r>
            <a:r>
              <a:rPr lang="en-US" sz="26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Built using public BIS catalogs, QCOs, and tender archives.</a:t>
            </a:r>
          </a:p>
          <a:p>
            <a:pPr marL="564485" lvl="1" indent="-282242" algn="l">
              <a:lnSpc>
                <a:spcPts val="3137"/>
              </a:lnSpc>
              <a:buFont typeface="Arial"/>
              <a:buChar char="•"/>
            </a:pPr>
            <a:r>
              <a:rPr lang="en-US" sz="2614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Tech:</a:t>
            </a:r>
            <a:r>
              <a:rPr lang="en-US" sz="2614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614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ses</a:t>
            </a:r>
            <a:r>
              <a:rPr lang="en-US" sz="26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Hybrid Graph-RAG (Neo4j + Vector DB) to accurately link standards without </a:t>
            </a:r>
            <a:r>
              <a:rPr lang="en-US" sz="2614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</a:t>
            </a:r>
            <a:r>
              <a:rPr lang="en-US" sz="26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614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6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rs.</a:t>
            </a:r>
          </a:p>
          <a:p>
            <a:pPr marL="564485" lvl="1" indent="-282242" algn="l">
              <a:lnSpc>
                <a:spcPts val="3137"/>
              </a:lnSpc>
              <a:buFont typeface="Arial"/>
              <a:buChar char="•"/>
            </a:pPr>
            <a:r>
              <a:rPr lang="en-US" sz="2614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Integration:</a:t>
            </a:r>
            <a:r>
              <a:rPr lang="en-US" sz="26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Hooks directly into portals like GeM via browser extensions or APIs with zero user training needed.</a:t>
            </a:r>
          </a:p>
          <a:p>
            <a:pPr marL="564485" lvl="1" indent="-282242" algn="l">
              <a:lnSpc>
                <a:spcPts val="3137"/>
              </a:lnSpc>
              <a:buFont typeface="Arial"/>
              <a:buChar char="•"/>
            </a:pPr>
            <a:r>
              <a:rPr lang="en-US" sz="2614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Multilingual:</a:t>
            </a:r>
            <a:r>
              <a:rPr lang="en-US" sz="2614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</a:t>
            </a:r>
            <a:r>
              <a:rPr lang="en-US" sz="26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queries in multiple regional Indian languages for non-technical users.</a:t>
            </a:r>
          </a:p>
          <a:p>
            <a:pPr algn="l">
              <a:lnSpc>
                <a:spcPts val="3137"/>
              </a:lnSpc>
            </a:pPr>
            <a:r>
              <a:rPr lang="en-US" sz="261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Viability</a:t>
            </a:r>
          </a:p>
          <a:p>
            <a:pPr marL="564485" lvl="1" indent="-282242" algn="l">
              <a:lnSpc>
                <a:spcPts val="3137"/>
              </a:lnSpc>
              <a:buFont typeface="Arial"/>
              <a:buChar char="•"/>
            </a:pPr>
            <a:r>
              <a:rPr lang="en-US" sz="2614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Cost:</a:t>
            </a:r>
            <a:r>
              <a:rPr lang="en-US" sz="26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Built on open-source tools (Python, Neo4j, Hugging Face) to keep operational expenses low.</a:t>
            </a:r>
          </a:p>
          <a:p>
            <a:pPr marL="564485" lvl="1" indent="-282242" algn="l">
              <a:lnSpc>
                <a:spcPts val="3137"/>
              </a:lnSpc>
              <a:buFont typeface="Arial"/>
              <a:buChar char="•"/>
            </a:pPr>
            <a:r>
              <a:rPr lang="en-US" sz="2614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Savings:</a:t>
            </a:r>
            <a:r>
              <a:rPr lang="en-US" sz="26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Prevents expensive tender rewrites, legal disputes, and rejected shipments.</a:t>
            </a:r>
          </a:p>
          <a:p>
            <a:pPr marL="564485" lvl="1" indent="-282242" algn="l">
              <a:lnSpc>
                <a:spcPts val="3137"/>
              </a:lnSpc>
              <a:buFont typeface="Arial"/>
              <a:buChar char="•"/>
            </a:pPr>
            <a:r>
              <a:rPr lang="en-US" sz="2614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Scaling:</a:t>
            </a:r>
            <a:r>
              <a:rPr lang="en-US" sz="2614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</a:t>
            </a:r>
            <a:r>
              <a:rPr lang="en-US" sz="2614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6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standardized APIs to scale across local, state, and central portals effortlessly.</a:t>
            </a:r>
          </a:p>
          <a:p>
            <a:pPr marL="564485" lvl="1" indent="-282242" algn="l">
              <a:lnSpc>
                <a:spcPts val="3137"/>
              </a:lnSpc>
              <a:buFont typeface="Arial"/>
              <a:buChar char="•"/>
            </a:pPr>
            <a:r>
              <a:rPr lang="en-US" sz="2614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Auto-Updates:</a:t>
            </a:r>
            <a:r>
              <a:rPr lang="en-US" sz="26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Web scrapers automatically pull the latest BIS revisions and QCO updates in real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-24288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ByteMinds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3094069" y="1123950"/>
            <a:ext cx="5902330" cy="4161142"/>
          </a:xfrm>
          <a:custGeom>
            <a:avLst/>
            <a:gdLst/>
            <a:ahLst/>
            <a:cxnLst/>
            <a:rect l="l" t="t" r="r" b="b"/>
            <a:pathLst>
              <a:path w="5902330" h="4161142">
                <a:moveTo>
                  <a:pt x="0" y="0"/>
                </a:moveTo>
                <a:lnTo>
                  <a:pt x="5902330" y="0"/>
                </a:lnTo>
                <a:lnTo>
                  <a:pt x="5902330" y="4161142"/>
                </a:lnTo>
                <a:lnTo>
                  <a:pt x="0" y="4161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8996399" y="1123950"/>
            <a:ext cx="5902330" cy="4161142"/>
          </a:xfrm>
          <a:custGeom>
            <a:avLst/>
            <a:gdLst/>
            <a:ahLst/>
            <a:cxnLst/>
            <a:rect l="l" t="t" r="r" b="b"/>
            <a:pathLst>
              <a:path w="5902330" h="4161142">
                <a:moveTo>
                  <a:pt x="0" y="0"/>
                </a:moveTo>
                <a:lnTo>
                  <a:pt x="5902330" y="0"/>
                </a:lnTo>
                <a:lnTo>
                  <a:pt x="5902330" y="4161142"/>
                </a:lnTo>
                <a:lnTo>
                  <a:pt x="0" y="4161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3094069" y="5285092"/>
            <a:ext cx="5902330" cy="4161142"/>
          </a:xfrm>
          <a:custGeom>
            <a:avLst/>
            <a:gdLst/>
            <a:ahLst/>
            <a:cxnLst/>
            <a:rect l="l" t="t" r="r" b="b"/>
            <a:pathLst>
              <a:path w="5902330" h="4161142">
                <a:moveTo>
                  <a:pt x="0" y="0"/>
                </a:moveTo>
                <a:lnTo>
                  <a:pt x="5902330" y="0"/>
                </a:lnTo>
                <a:lnTo>
                  <a:pt x="5902330" y="4161143"/>
                </a:lnTo>
                <a:lnTo>
                  <a:pt x="0" y="41611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Freeform 21"/>
          <p:cNvSpPr/>
          <p:nvPr/>
        </p:nvSpPr>
        <p:spPr>
          <a:xfrm>
            <a:off x="8996399" y="5285092"/>
            <a:ext cx="5902330" cy="4161142"/>
          </a:xfrm>
          <a:custGeom>
            <a:avLst/>
            <a:gdLst/>
            <a:ahLst/>
            <a:cxnLst/>
            <a:rect l="l" t="t" r="r" b="b"/>
            <a:pathLst>
              <a:path w="5902330" h="4161142">
                <a:moveTo>
                  <a:pt x="0" y="0"/>
                </a:moveTo>
                <a:lnTo>
                  <a:pt x="5902330" y="0"/>
                </a:lnTo>
                <a:lnTo>
                  <a:pt x="5902330" y="4161143"/>
                </a:lnTo>
                <a:lnTo>
                  <a:pt x="0" y="41611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3261309" y="1226973"/>
            <a:ext cx="5567850" cy="3931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3"/>
              </a:lnSpc>
            </a:pPr>
            <a:r>
              <a:rPr lang="en-US" sz="214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Safety, Quality &amp; Standards</a:t>
            </a:r>
          </a:p>
          <a:p>
            <a:pPr marL="462969" lvl="1" indent="-231484" algn="l">
              <a:lnSpc>
                <a:spcPts val="2573"/>
              </a:lnSpc>
              <a:buFont typeface="Arial"/>
              <a:buChar char="•"/>
            </a:pPr>
            <a:r>
              <a:rPr lang="en-US" sz="214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Enforces latest BIS codes to prevent structural failures across public works.</a:t>
            </a:r>
          </a:p>
          <a:p>
            <a:pPr marL="462969" lvl="1" indent="-231484" algn="l">
              <a:lnSpc>
                <a:spcPts val="2573"/>
              </a:lnSpc>
              <a:buFont typeface="Arial"/>
              <a:buChar char="•"/>
            </a:pPr>
            <a:r>
              <a:rPr lang="en-US" sz="214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engine ensures critical tests (compressive strength, silt content) are included.</a:t>
            </a:r>
          </a:p>
          <a:p>
            <a:pPr marL="462969" lvl="1" indent="-231484" algn="l">
              <a:lnSpc>
                <a:spcPts val="2573"/>
              </a:lnSpc>
              <a:buFont typeface="Arial"/>
              <a:buChar char="•"/>
            </a:pPr>
            <a:r>
              <a:rPr lang="en-US" sz="214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Standardizes specs across major agencies (CPWD, PWD, NHAI).</a:t>
            </a:r>
          </a:p>
          <a:p>
            <a:pPr marL="462969" lvl="1" indent="-231484" algn="l">
              <a:lnSpc>
                <a:spcPts val="2573"/>
              </a:lnSpc>
              <a:buFont typeface="Arial"/>
              <a:buChar char="•"/>
            </a:pPr>
            <a:r>
              <a:rPr lang="en-US" sz="214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Auto-detects withdrawn/outdated codes and routes to current active versions.</a:t>
            </a:r>
          </a:p>
          <a:p>
            <a:pPr marL="462969" lvl="1" indent="-231484" algn="l">
              <a:lnSpc>
                <a:spcPts val="2573"/>
              </a:lnSpc>
              <a:buFont typeface="Arial"/>
              <a:buChar char="•"/>
            </a:pPr>
            <a:r>
              <a:rPr lang="en-US" sz="214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Delivers complete data: specs, test limits, allied codes, and compliance rules.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63639" y="1247226"/>
            <a:ext cx="5735090" cy="382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228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Procurement, Legal &amp; MSME Protection</a:t>
            </a:r>
          </a:p>
          <a:p>
            <a:pPr marL="493551" lvl="1" indent="-246776" algn="l">
              <a:lnSpc>
                <a:spcPts val="2743"/>
              </a:lnSpc>
              <a:buFont typeface="Arial"/>
              <a:buChar char="•"/>
            </a:pPr>
            <a:r>
              <a:rPr lang="en-US" sz="22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Identifies mandatory ISI marks and QCO rules to shield MSMEs from fines.</a:t>
            </a:r>
          </a:p>
          <a:p>
            <a:pPr marL="493551" lvl="1" indent="-246776" algn="l">
              <a:lnSpc>
                <a:spcPts val="2743"/>
              </a:lnSpc>
              <a:buFont typeface="Arial"/>
              <a:buChar char="•"/>
            </a:pPr>
            <a:r>
              <a:rPr lang="en-US" sz="22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Standardizes tender clauses to eliminate contract ambiguity and corruption.</a:t>
            </a:r>
          </a:p>
          <a:p>
            <a:pPr marL="493551" lvl="1" indent="-246776" algn="l">
              <a:lnSpc>
                <a:spcPts val="2743"/>
              </a:lnSpc>
              <a:buFont typeface="Arial"/>
              <a:buChar char="•"/>
            </a:pPr>
            <a:r>
              <a:rPr lang="en-US" sz="22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small contractors to independently verify compliance without consultants.</a:t>
            </a:r>
          </a:p>
          <a:p>
            <a:pPr marL="493551" lvl="1" indent="-246776" algn="l">
              <a:lnSpc>
                <a:spcPts val="2743"/>
              </a:lnSpc>
              <a:buFont typeface="Arial"/>
              <a:buChar char="•"/>
            </a:pPr>
            <a:r>
              <a:rPr lang="en-US" sz="22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ready-to-use CPWD/PWD contract text directly.</a:t>
            </a:r>
          </a:p>
          <a:p>
            <a:pPr marL="493551" lvl="1" indent="-246776" algn="l">
              <a:lnSpc>
                <a:spcPts val="2743"/>
              </a:lnSpc>
              <a:buFont typeface="Arial"/>
              <a:buChar char="•"/>
            </a:pPr>
            <a:r>
              <a:rPr lang="en-US" sz="22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Verifies regulatory obligations prior to bidding or manufacturing.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261309" y="5418950"/>
            <a:ext cx="5567850" cy="3883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Speed, Tech Efficiency &amp; Cost</a:t>
            </a:r>
          </a:p>
          <a:p>
            <a:pPr marL="502077" lvl="1" indent="-251038" algn="l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Delivers top 3 BIS search results in 0.02 seconds.</a:t>
            </a:r>
          </a:p>
          <a:p>
            <a:pPr marL="502077" lvl="1" indent="-251038" algn="l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Converts hours of manual document search into instant technical retrieval.</a:t>
            </a:r>
          </a:p>
          <a:p>
            <a:pPr marL="502077" lvl="1" indent="-251038" algn="l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Runs 100% locally on standard hardware—zero cloud, GPU, or subscription costs.</a:t>
            </a:r>
          </a:p>
          <a:p>
            <a:pPr marL="502077" lvl="1" indent="-251038" algn="l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 LLM guardrails keep all outputs focused strictly on engineering domain.</a:t>
            </a:r>
          </a:p>
          <a:p>
            <a:pPr marL="502077" lvl="1" indent="-251038" algn="l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actionable site inspection checklists (MTC, cement age, sampling).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63639" y="5500514"/>
            <a:ext cx="5514445" cy="3711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2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Accessibility, Localization &amp; Sustainability</a:t>
            </a:r>
          </a:p>
          <a:p>
            <a:pPr marL="478472" lvl="1" indent="-239236" algn="l">
              <a:lnSpc>
                <a:spcPts val="2659"/>
              </a:lnSpc>
              <a:buFont typeface="Arial"/>
              <a:buChar char="•"/>
            </a:pPr>
            <a:r>
              <a:rPr lang="en-US" sz="22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Breaks language barriers for Hindi-speaking contractors in Tier 2/3 cities.</a:t>
            </a:r>
          </a:p>
          <a:p>
            <a:pPr marL="478472" lvl="1" indent="-239236" algn="l">
              <a:lnSpc>
                <a:spcPts val="2659"/>
              </a:lnSpc>
              <a:buFont typeface="Arial"/>
              <a:buChar char="•"/>
            </a:pPr>
            <a:r>
              <a:rPr lang="en-US" sz="22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Understands natural regional queries (e.g., "सरिया Fe 500D", "chhat ki cement").</a:t>
            </a:r>
          </a:p>
          <a:p>
            <a:pPr marL="478472" lvl="1" indent="-239236" algn="l">
              <a:lnSpc>
                <a:spcPts val="2659"/>
              </a:lnSpc>
              <a:buFont typeface="Arial"/>
              <a:buChar char="•"/>
            </a:pPr>
            <a:r>
              <a:rPr lang="en-US" sz="22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Promotes sustainable materials (M-Sand, recycled aggregates, blended cements).</a:t>
            </a:r>
          </a:p>
          <a:p>
            <a:pPr marL="478472" lvl="1" indent="-239236" algn="l">
              <a:lnSpc>
                <a:spcPts val="2659"/>
              </a:lnSpc>
              <a:buFont typeface="Arial"/>
              <a:buChar char="•"/>
            </a:pPr>
            <a:r>
              <a:rPr lang="en-US" sz="22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Evaluates material trade-offs (OPC vs PPC vs PSC) for optimal durability.</a:t>
            </a:r>
          </a:p>
          <a:p>
            <a:pPr marL="478472" lvl="1" indent="-239236" algn="l">
              <a:lnSpc>
                <a:spcPts val="2659"/>
              </a:lnSpc>
              <a:buFont typeface="Arial"/>
              <a:buChar char="•"/>
            </a:pPr>
            <a:r>
              <a:rPr lang="en-US" sz="22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Unifies BIS requirements into one central system for contractors and engineers.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1" name="Freeform 11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ByteMinds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-438788" y="1791851"/>
            <a:ext cx="7076084" cy="66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9"/>
              </a:lnSpc>
            </a:pPr>
            <a:r>
              <a:rPr lang="en-US" sz="376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Domain &amp; Regulatory Framework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0" y="3136368"/>
            <a:ext cx="11865262" cy="1030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2915" lvl="1" indent="-316457" algn="ctr">
              <a:lnSpc>
                <a:spcPts val="4104"/>
              </a:lnSpc>
              <a:buFont typeface="Arial"/>
              <a:buChar char="•"/>
            </a:pPr>
            <a:r>
              <a:rPr lang="en-US" sz="293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Standards Registry: Bureau of Indian Standards Official Portal  </a:t>
            </a:r>
            <a:r>
              <a:rPr lang="en-US" sz="2931" u="sng" dirty="0">
                <a:solidFill>
                  <a:srgbClr val="0000EE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 tooltip="https://www.bis.gov.in"/>
              </a:rPr>
              <a:t>BIS.gov.in</a:t>
            </a:r>
          </a:p>
          <a:p>
            <a:pPr algn="ctr">
              <a:lnSpc>
                <a:spcPts val="4104"/>
              </a:lnSpc>
            </a:pPr>
            <a:endParaRPr lang="en-US" sz="2931" u="sng" dirty="0">
              <a:solidFill>
                <a:srgbClr val="0000EE"/>
              </a:solidFill>
              <a:latin typeface="Times New Roman"/>
              <a:ea typeface="Times New Roman"/>
              <a:cs typeface="Times New Roman"/>
              <a:sym typeface="Times New Roman"/>
              <a:hlinkClick r:id="rId4" tooltip="https://www.bis.gov.in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0" y="3643331"/>
            <a:ext cx="17259300" cy="986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5883" lvl="1" indent="-302941" algn="ctr">
              <a:lnSpc>
                <a:spcPts val="3928"/>
              </a:lnSpc>
              <a:buFont typeface="Arial"/>
              <a:buChar char="•"/>
            </a:pPr>
            <a:r>
              <a:rPr lang="en-US" sz="280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Tender &amp; QA Guidelines: Central Public Works Department (CPWD) General Specifications. </a:t>
            </a:r>
            <a:r>
              <a:rPr lang="en-US" sz="2806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 tooltip="https://cpwd.gov.in/Publications.aspx"/>
              </a:rPr>
              <a:t> </a:t>
            </a:r>
            <a:r>
              <a:rPr lang="en-US" sz="2806" u="sng" dirty="0">
                <a:solidFill>
                  <a:srgbClr val="0000EE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 tooltip="https://cpwd.gov.in/Publications.aspx"/>
              </a:rPr>
              <a:t>CPWD Publications</a:t>
            </a:r>
          </a:p>
          <a:p>
            <a:pPr algn="ctr">
              <a:lnSpc>
                <a:spcPts val="3928"/>
              </a:lnSpc>
            </a:pPr>
            <a:endParaRPr lang="en-US" sz="2806" u="sng" dirty="0">
              <a:solidFill>
                <a:srgbClr val="0000EE"/>
              </a:solidFill>
              <a:latin typeface="Times New Roman"/>
              <a:ea typeface="Times New Roman"/>
              <a:cs typeface="Times New Roman"/>
              <a:sym typeface="Times New Roman"/>
              <a:hlinkClick r:id="rId5" tooltip="https://cpwd.gov.in/Publications.aspx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6474" y="4265755"/>
            <a:ext cx="16407290" cy="1609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0396" lvl="1" indent="-325198" algn="l">
              <a:lnSpc>
                <a:spcPts val="4217"/>
              </a:lnSpc>
              <a:buFont typeface="Arial"/>
              <a:buChar char="•"/>
            </a:pPr>
            <a:r>
              <a:rPr lang="en-US" sz="301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Legal Compliance: The Bureau of Indian Standards (BIS) Act, 2016 (Focus on Sections 16 &amp; 29 for penalties). </a:t>
            </a:r>
            <a:r>
              <a:rPr lang="en-US" sz="3012" u="sng" dirty="0">
                <a:solidFill>
                  <a:srgbClr val="0000EE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 tooltip="https://www.bis.gov.in/wp-content/uploads/2020/12/BIS-Act-2016.pdf"/>
              </a:rPr>
              <a:t>Read Official Gazette (PDF)</a:t>
            </a:r>
          </a:p>
          <a:p>
            <a:pPr algn="ctr">
              <a:lnSpc>
                <a:spcPts val="4217"/>
              </a:lnSpc>
            </a:pPr>
            <a:endParaRPr lang="en-US" sz="3012" u="sng" dirty="0">
              <a:solidFill>
                <a:srgbClr val="0000EE"/>
              </a:solidFill>
              <a:latin typeface="Times New Roman"/>
              <a:ea typeface="Times New Roman"/>
              <a:cs typeface="Times New Roman"/>
              <a:sym typeface="Times New Roman"/>
              <a:hlinkClick r:id="rId6" tooltip="https://www.bis.gov.in/wp-content/uploads/2020/12/BIS-Act-2016.pdf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75612" y="5380647"/>
            <a:ext cx="5635151" cy="70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83"/>
              </a:lnSpc>
            </a:pPr>
            <a:r>
              <a:rPr lang="en-US" sz="405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&amp; Technical Research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474" y="6329060"/>
            <a:ext cx="17006353" cy="1371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6456" lvl="1" indent="-283228" algn="l">
              <a:lnSpc>
                <a:spcPts val="3673"/>
              </a:lnSpc>
              <a:buFont typeface="Arial"/>
              <a:buChar char="•"/>
            </a:pPr>
            <a:r>
              <a:rPr lang="en-US" sz="26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Embeddings (all-MiniLM-L6-v2): Reimers &amp; Gurevych (2019), Sentence-BERT: Sentence Embeddings using Siamese BERT-Networks. </a:t>
            </a:r>
            <a:r>
              <a:rPr lang="en-US" sz="2623" u="sng">
                <a:solidFill>
                  <a:srgbClr val="0000EE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 tooltip="https://huggingface.co/sentence-transformers/all-MiniLM-L6-v2"/>
              </a:rPr>
              <a:t>View HuggingFace Model</a:t>
            </a:r>
          </a:p>
          <a:p>
            <a:pPr marL="566456" lvl="1" indent="-283228" algn="l">
              <a:lnSpc>
                <a:spcPts val="3673"/>
              </a:lnSpc>
              <a:buFont typeface="Arial"/>
              <a:buChar char="•"/>
            </a:pPr>
            <a:endParaRPr lang="en-US" sz="2623" u="sng">
              <a:solidFill>
                <a:srgbClr val="0000EE"/>
              </a:solidFill>
              <a:latin typeface="Times New Roman"/>
              <a:ea typeface="Times New Roman"/>
              <a:cs typeface="Times New Roman"/>
              <a:sym typeface="Times New Roman"/>
              <a:hlinkClick r:id="rId7" tooltip="https://huggingface.co/sentence-transformers/all-MiniLM-L6-v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11463" y="7318247"/>
            <a:ext cx="16709762" cy="92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3"/>
              </a:lnSpc>
            </a:pPr>
            <a:r>
              <a:rPr lang="en-US" sz="25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LLM Guardrails (Phi-2): Microsoft Research (2023), Phi-2: The surprising power of small language models. </a:t>
            </a:r>
            <a:r>
              <a:rPr lang="en-US" sz="2573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 tooltip="https://www.microsoft.com/en-us/research/blog/phi-2-the-surprising-power-of-small-language-models/"/>
              </a:rPr>
              <a:t>Read </a:t>
            </a:r>
            <a:r>
              <a:rPr lang="en-US" sz="2573" u="sng">
                <a:solidFill>
                  <a:srgbClr val="0000EE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 tooltip="https://www.microsoft.com/en-us/research/blog/phi-2-the-surprising-power-of-small-language-models/"/>
              </a:rPr>
              <a:t>Microsoft Research Blog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474" y="8358545"/>
            <a:ext cx="15684717" cy="449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864" lvl="1" indent="-277432" algn="l">
              <a:lnSpc>
                <a:spcPts val="3598"/>
              </a:lnSpc>
              <a:buFont typeface="Arial"/>
              <a:buChar char="•"/>
            </a:pPr>
            <a:r>
              <a:rPr lang="en-US" sz="25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Lexical Retrieval Engine: Okapi BM25 (Probabilistic Relevance Framework). </a:t>
            </a:r>
            <a:r>
              <a:rPr lang="en-US" sz="2570" u="sng">
                <a:solidFill>
                  <a:srgbClr val="0000EE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 tooltip="https://en.wikipedia.org/wiki/Okapi_BM25"/>
              </a:rPr>
              <a:t>Read Overview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42659" y="1429693"/>
            <a:ext cx="1573983" cy="62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5"/>
              </a:lnSpc>
              <a:spcBef>
                <a:spcPct val="0"/>
              </a:spcBef>
            </a:pPr>
            <a:r>
              <a:rPr lang="en-US" sz="4054" b="1" u="sng">
                <a:solidFill>
                  <a:srgbClr val="0000EE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10" tooltip="https://niriksh-amrita.streamlit.app"/>
              </a:rPr>
              <a:t>niriksh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689</Words>
  <Application>Microsoft Office PowerPoint</Application>
  <PresentationFormat>Custom</PresentationFormat>
  <Paragraphs>81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Arimo</vt:lpstr>
      <vt:lpstr>Arimo Bold</vt:lpstr>
      <vt:lpstr>Calibri</vt:lpstr>
      <vt:lpstr>Calibri (MS)</vt:lpstr>
      <vt:lpstr>Garamond Bold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SRI KRUTHI</cp:lastModifiedBy>
  <cp:revision>1</cp:revision>
  <dcterms:modified xsi:type="dcterms:W3CDTF">2026-08-28T21:41:35Z</dcterms:modified>
</cp:coreProperties>
</file>